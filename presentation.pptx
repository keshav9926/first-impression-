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First Impression Engine (FIE) — Technical Presentation &amp;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i="1">
                <a:solidFill>
                  <a:srgbClr val="94A3B8"/>
                </a:solidFill>
                <a:latin typeface="Segoe UI"/>
              </a:defRPr>
            </a:pPr>
            <a:r>
              <a:t>**Master Slide Deck &amp; Technical Blueprint**</a:t>
            </a:r>
          </a:p>
          <a:p>
            <a:pPr>
              <a:spcAft>
                <a:spcPts val="600"/>
              </a:spcAft>
              <a:defRPr sz="1400" i="1">
                <a:solidFill>
                  <a:srgbClr val="94A3B8"/>
                </a:solidFill>
                <a:latin typeface="Segoe UI"/>
              </a:defRPr>
            </a:pPr>
            <a:r>
              <a:t>*Comprehensive 19-Topic Technical Deep-Dive*</a:t>
            </a:r>
          </a:p>
          <a:p>
            <a:pPr>
              <a:spcAft>
                <a:spcPts val="600"/>
              </a:spcAft>
              <a:defRPr sz="1400" i="1">
                <a:solidFill>
                  <a:srgbClr val="94A3B8"/>
                </a:solidFill>
                <a:latin typeface="Segoe UI"/>
              </a:defRPr>
            </a:pPr>
            <a:r>
              <a:t>**Target Audience**: Technical Mentors, System Architects, &amp; Engineering Evaluation Panels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Slide 1: 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94A3B8"/>
                </a:solidFill>
                <a:latin typeface="Segoe UI"/>
              </a:defRPr>
            </a:pPr>
            <a:r>
              <a:t>**First Impression Engine (FIE)**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*Autonomous Outside-In Product Analysis &amp; Grounded Multi-Agent Evaluation Platform*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Core Problem: Founders and product teams suffer from the *curse of knowledge*—they cannot experience their own public site as an uninitiated stranger. Traditional tools audit SEO or page speed, but miss product clarity, value propositions, and UX friction.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Solution: An autonomous agentic platform that crawls public landing pages, ingests visual &amp; text content into ChromaDB, executes ReAct exploration loops, and evaluates product presentation through a multi-persona panel.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Key System Capabilities: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Fail-Closed Compliance: Strict `robots.txt` gate &amp; public-data-only constraint.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Multimodal Visual Intelligence: NVIDIA VLM vision captioning for dashboard UI screenshots (`nemotron-3-nano-omni-30b`).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Zero-Hallucination Pipeline: 5-layer trust verification stack guaranteeing backed claims and canonical URL citations.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Multi-Channel Delivery: FastAPI REST API, live SSE event bus, FastMCP stdio server, Netlify static web publishing, and automated PDF datasheets.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Slide 2: High-Level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2E8F0"/>
                </a:solidFill>
                <a:latin typeface="Consolas"/>
              </a:defRPr>
            </a:pPr>
            <a:r>
              <a:t>[ CLIENT / DASHBOARD / MCP CLIENT ]</a:t>
            </a:r>
            <a:br/>
            <a:r>
              <a:t>               │</a:t>
            </a:r>
            <a:br/>
            <a:r>
              <a:t>               ▼</a:t>
            </a:r>
            <a:br/>
            <a:r>
              <a:t>   ┌──────────────────────┐</a:t>
            </a:r>
            <a:br/>
            <a:r>
              <a:t>   │  FastAPI / FastMCP   │  ◄── Endpoint Routing &amp; Event Bus (events.py)</a:t>
            </a:r>
            <a:br/>
            <a:r>
              <a:t>   └──────────┬───────────┘</a:t>
            </a:r>
            <a:br/>
            <a:r>
              <a:t>               │</a:t>
            </a:r>
            <a:br/>
            <a:r>
              <a:t>               ▼</a:t>
            </a:r>
            <a:br/>
            <a:r>
              <a:t>   ┌──────────────────────┐</a:t>
            </a:r>
            <a:br/>
            <a:r>
              <a:t>   │ Robots.txt Gate      │  ◄── urllib.robotparser compliance gate (robots.py)</a:t>
            </a:r>
            <a:br/>
            <a:r>
              <a:t>   └──────────┬───────────┘</a:t>
            </a:r>
            <a:br/>
            <a:r>
              <a:t>               │</a:t>
            </a:r>
            <a:br/>
            <a:r>
              <a:t>               ▼</a:t>
            </a:r>
            <a:br/>
            <a:r>
              <a:t>   ┌──────────────────────┐</a:t>
            </a:r>
            <a:br/>
            <a:r>
              <a:t>   │ Crawl &amp; JS Render    │  ◄── Fast httpx + Playwright Chromium Escalation</a:t>
            </a:r>
            <a:br/>
            <a:r>
              <a:t>   └──────────┬───────────┘      (fetcher.py &amp; render.py)</a:t>
            </a:r>
            <a:br/>
            <a:r>
              <a:t>               │</a:t>
            </a:r>
            <a:br/>
            <a:r>
              <a:t>               ▼</a:t>
            </a:r>
            <a:br/>
            <a:r>
              <a:t>   ┌──────────────────────┐</a:t>
            </a:r>
            <a:br/>
            <a:r>
              <a:t>   │ VLM Vision Pipeline  │  ◄── NVIDIA Nemotron-3 Omni-30b captions UI images</a:t>
            </a:r>
            <a:br/>
            <a:r>
              <a:t>   └──────────┬───────────┘      into metadata (vision.py)</a:t>
            </a:r>
            <a:br/>
            <a:r>
              <a:t>               │</a:t>
            </a:r>
            <a:br/>
            <a:r>
              <a:t>               ▼</a:t>
            </a:r>
            <a:br/>
            <a:r>
              <a:t>   ┌──────────────────────┐</a:t>
            </a:r>
            <a:br/>
            <a:r>
              <a:t>   │ Custom Chunker       │  ◄── ~1600 char paragraph packing with overlap</a:t>
            </a:r>
            <a:br/>
            <a:r>
              <a:t>   └──────────┬───────────┘      &amp; AST CTAs (chunker.py)</a:t>
            </a:r>
            <a:br/>
            <a:r>
              <a:t>               │</a:t>
            </a:r>
            <a:br/>
            <a:r>
              <a:t>               ▼</a:t>
            </a:r>
            <a:br/>
            <a:r>
              <a:t>   ┌──────────────────────┐</a:t>
            </a:r>
            <a:br/>
            <a:r>
              <a:t>   │ Vector Store         │  ◄── ChromaDB + Dense Embeddings</a:t>
            </a:r>
            <a:br/>
            <a:r>
              <a:t>   └──────────┬───────────┘      (store.py &amp; embeddings.py)</a:t>
            </a:r>
            <a:br/>
            <a:r>
              <a:t>               │</a:t>
            </a:r>
            <a:br/>
            <a:r>
              <a:t>               ▼</a:t>
            </a:r>
            <a:br/>
            <a:r>
              <a:t> ┌─────────────────────────────────────────────────────────────┐</a:t>
            </a:r>
            <a:br/>
            <a:r>
              <a:t> │                 HYBRID RETRIEVAL FUNNEL                     │</a:t>
            </a:r>
            <a:br/>
            <a:r>
              <a:t> │  Dense Vectors (Nemotron)     │ Sparse BM25 Keyword Search  │</a:t>
            </a:r>
            <a:br/>
            <a:r>
              <a:t> │             └───────────────────┴───────────────────┘       │</a:t>
            </a:r>
            <a:br/>
            <a:r>
              <a:t> │                         ▼                                   │</a:t>
            </a:r>
            <a:br/>
            <a:r>
              <a:t> │            Reciprocal Rank Fusion (RRF)                     │</a:t>
            </a:r>
            <a:br/>
            <a:r>
              <a:t> │               + Guaranteed Seats (top 3)                    │</a:t>
            </a:r>
            <a:br/>
            <a:r>
              <a:t> │                         ▼                                   │</a:t>
            </a:r>
            <a:br/>
            <a:r>
              <a:t> │            Cross-Encoder Neural Reranker                    │</a:t>
            </a:r>
            <a:br/>
            <a:r>
              <a:t> │               + Shifted Sigmoid Scaling (≥ 0.30 Gate)       │</a:t>
            </a:r>
            <a:br/>
            <a:r>
              <a:t> └─────────────────────────┬───────────────────────────────────┘</a:t>
            </a:r>
            <a:br/>
            <a:r>
              <a:t>                           │</a:t>
            </a:r>
            <a:br/>
            <a:r>
              <a:t>                           ▼</a:t>
            </a:r>
            <a:br/>
            <a:r>
              <a:t>   ┌──────────────────────┐</a:t>
            </a:r>
            <a:br/>
            <a:r>
              <a:t>   │ ReAct Agent Loop     │  ◄── Multi-step exploration: list, read, search</a:t>
            </a:r>
            <a:br/>
            <a:r>
              <a:t>   └──────────┬───────────┘      (react.py &amp; tools.py)</a:t>
            </a:r>
            <a:br/>
            <a:r>
              <a:t>               │</a:t>
            </a:r>
            <a:br/>
            <a:r>
              <a:t>               ▼</a:t>
            </a:r>
            <a:br/>
            <a:r>
              <a:t>   ┌──────────────────────┐</a:t>
            </a:r>
            <a:br/>
            <a:r>
              <a:t>   │ Persona Panel        │  ◄── Parallel evaluation: Business Buyer,</a:t>
            </a:r>
            <a:br/>
            <a:r>
              <a:t>   └──────────┬───────────┘      Tech Evaluator, First-Time User (panel.py)</a:t>
            </a:r>
            <a:br/>
            <a:r>
              <a:t>               │</a:t>
            </a:r>
            <a:br/>
            <a:r>
              <a:t>               ▼</a:t>
            </a:r>
            <a:br/>
            <a:r>
              <a:t>   ┌──────────────────────┐</a:t>
            </a:r>
            <a:br/>
            <a:r>
              <a:t>   │ 5-Layer Trust Stack  │  ◄── Schema -&gt; Citation -&gt; Fact Judge -&gt;</a:t>
            </a:r>
            <a:br/>
            <a:r>
              <a:t>   └──────────┬───────────┘      Contradiction -&gt; Scope Caveat (report.py)</a:t>
            </a:r>
            <a:br/>
            <a:r>
              <a:t>               │</a:t>
            </a:r>
            <a:br/>
            <a:r>
              <a:t>               ▼</a:t>
            </a:r>
            <a:br/>
            <a:r>
              <a:t>[ GROUNDED REPORT OUTPUT: HTML / PDF / SSE / MCP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Slide 3: Ingestion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94A3B8"/>
                </a:solidFill>
                <a:latin typeface="Segoe UI"/>
              </a:defRPr>
            </a:pPr>
            <a:r>
              <a:t>**Multi-Stage Web Harvesting (`app/ingestion/`)**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BFS Crawl Loop (`fetcher.py`): Explores same-domain links up to configured `max_pages` limit. Deduplicates links by canonicalizing URLs (stripping query parameters like `?ref=` and hash anchors).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AST Collectors (`_CtaCollector` &amp; `_HeadingCollector`): Extracts primary call-to-action buttons (`"Try for free"`, `"Book a demo"`) and HTML heading hierarchy (`h1..h3`) *before* main-body boilerplate text extraction.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Robots.txt Politeness Gate (`robots.py`): Caches parsed `robots.txt` rules per domain origin with a 1-hour TTL (`_TTL_SECONDS = 3600.0`). Uses a fail-closed design: if network errors prevent fetching `robots.txt`, access is denied by default (`disallow_all = True`).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Playwright JS SPA Escalation (`render.py`): When static HTTP extraction yields less than 400 characters (indicating a JavaScript SPA shell like Framer/Next.js/React), FIE automatically escalates to headless Chromium with top-to-bottom auto-scrolling to trigger lazy hydration.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Multimodal Visual Capture (`vision.py`): Detects product screenshot images, scales them under 170KB inline limits, and runs an NVIDIA VLM pass (`nemotron-3-nano-omni-30b-a3b-reasoning`, 2.3s latency) to attach textual UI descriptions into chunk metadata.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Slide 4: Semantic Chunking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94A3B8"/>
                </a:solidFill>
                <a:latin typeface="Segoe UI"/>
              </a:defRPr>
            </a:pPr>
            <a:r>
              <a:t>**Custom Paragraph-Aware Chunker (`app/ingestion/chunker.py`)**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Why Custom over Generic Frameworks?: Standard text splitters slice arbitrarily at character counts, cutting mid-sentence or splitting table rows. FIE's chunker operates on semantic boundary units.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Target Size: `DEFAULT_MAX_CHARS = 1600` (~400 tokens)—large enough to preserve complete context, small enough to maintain high retrieval precision.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Three-Stage Algorithm: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1. Paragraph Extraction: Natural boundary split on double-newlines (`\n\n`).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2. Monster Paragraph Hard-Split: Slices any single oversized paragraph into sub-1600 character blocks.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3. Greedy Packing with Overlap: Greedily packs paragraphs up to 1,600 characters. When a chunk fills, the last 1 paragraph (`DEFAULT_OVERLAP = 1`) is carried over to start the next chunk, preserving context continuity across boundaries.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Metadata Binding: Binds canonical `url`, extracted page headings, navbar CTAs, and VLM screenshot captions directly to every chunk.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Slide 5: Embeddings &amp; ChromaDB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94A3B8"/>
                </a:solidFill>
                <a:latin typeface="Segoe UI"/>
              </a:defRPr>
            </a:pPr>
            <a:r>
              <a:t>**Vector Indexing &amp; Storage Engine (`app/rag/`)**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Embedding Provider (`app/rag/embeddings.py`): Uses high-dimensional dense vector embeddings (`nvidia/nemotron-3-embed-1b` with 2048 dimensions, or Voyage AI). Converts text chunks into normalized floating-point vector representations.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Persistent Vector Store (`app/rag/store.py`): Local ChromaDB instance with collection isolation per domain or run. Stores dense embeddings alongside raw chunk text and metadata JSON.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Metadata Indexing: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`url`: Canonical source webpage link.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`page_title`: HTML title tag of origin page.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`headings`: Structural section hierarchy (`h1 &gt; h2 &gt; h3`).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`images`: Multimodal VLM caption strings for visible UI screenshots.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`ctas`: Primary actionable UI buttons surfaced on the page.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Slide 6: Hybrid Retrieval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94A3B8"/>
                </a:solidFill>
                <a:latin typeface="Segoe UI"/>
              </a:defRPr>
            </a:pPr>
            <a:r>
              <a:t>**Multi-Arm Retrieval &amp; Reranking Architecture (`app/rag/`)**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Arm 1: Dense Vector Search (`store.py`): Cosine similarity over 2048-dim embeddings. Captures semantic concepts, synonyms, and intent (e.g., matching "cost" to "pricing tier").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Arm 2: Sparse BM25 Keyword Search (`keyword.py`): Implements `BM25Okapi` with light suffix stemming (`-ing`, `-es`, `-ed`, `-s`). Captures exact technical acronyms, model names, and tokens (e.g., `SOC2`, `OEE`, `SAML`, `PostgreSQL`).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Reciprocal Rank Fusion (RRF) (`fusion.py`): Merges dense and sparse rank positions into a single unified score: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$$\text{RRF Score}(d) = \sum_{m \in M} \frac{1}{k + r_m(d)} \quad (k = 60)$$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Guaranteed Seats (`guaranteed_per_list = 3`): Ensures top-ranked items from *either* vector search or BM25 keyword search are guaranteed candidate slots, preventing pure consensus algorithm failures.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Cross-Encoder Neural Reranker (`rerank.py`): Evaluates candidate chunks against query text using a cross-encoder model. Applies Shifted Sigmoid Scaling to normalize raw logits $L \in [-20, +5]$ into a calibrated $[0.0, 1.0]$ relevance range: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$$S_{\text{norm}} = \frac{1}{1 + e^{-\frac{L - (-10.0)}{3.0}}}$$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Slide 7: Why Hybrid RAG?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94A3B8"/>
                </a:solidFill>
                <a:latin typeface="Segoe UI"/>
              </a:defRPr>
            </a:pPr>
            <a:r>
              <a:t>**Vector-Only vs. Keyword-Only vs. Hybrid Funnel**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| Capability / Edge Case | Vector Search Only | Keyword (BM25) Only | Hybrid Funnel (FIE) |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| :--- | :--- | :--- | :--- |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| Conceptual Queries (*"How does it scale?"*) | Excellent | Poor (misses synonyms) | Optimal |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| Exact Technical Tokens (*"SOC2 Type II"*, *"OEE"*) | Poor (embedding noise) | Excellent | Optimal |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| Product Model Names (*"Lexium BRF"*) | Variable | Excellent | Optimal |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| Out-of-Vocabulary Terms (*Startup brand names*) | Poor | Excellent | Optimal |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| Ranking Quality &amp; Calibration | Uncalibrated distance | Unbounded BM25 score | Shifted Sigmoid ($\ge 0.30$) |</a:t>
            </a:r>
          </a:p>
          <a:p>
            <a:pPr>
              <a:spcAft>
                <a:spcPts val="600"/>
              </a:spcAft>
              <a:defRPr sz="1600" b="1">
                <a:solidFill>
                  <a:srgbClr val="94A3B8"/>
                </a:solidFill>
                <a:latin typeface="Segoe UI"/>
              </a:defRPr>
            </a:pPr>
            <a:r>
              <a:t>**The Core Rationale**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Single-retrieval strategies fail under real-world website evaluation. Hybrid retrieval combines the conceptual semantic breadth of dense vectors with the pinpoint exactness of sparse BM25, bounded by neural cross-encoder reranking and relevance gating.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Slide 8: Grounded QA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94A3B8"/>
                </a:solidFill>
                <a:latin typeface="Segoe UI"/>
              </a:defRPr>
            </a:pPr>
            <a:r>
              <a:t>**Extractive Question Answering (`app/rag/qa.py`)**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Purpose: Power direct user Q&amp;A interactions (`POST /ask`) over ingested domain data.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Pipeline Execution: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1. Receives user query string and target `company` identifier.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2. Executes Hybrid Retrieval (`pipeline.retrieve(query, company, top_k=5)`).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3. Evaluates top chunk relevance score against calibrated threshold ($S_{\text{norm}} \ge 0.30$).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4. Fail-Closed Threshold Gate: If highest score is below $0.30$, returns a clear refutation response: *"Insufficient evidence found in public domain pages to answer this question accurately."*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5. If relevance is sufficient, passes retrieved chunks + explicit prompt instructions to LLM to synthesize a grounded answer.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6. Attaches canonical source URLs to every answer sentence.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Slide 9: ReAct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94A3B8"/>
                </a:solidFill>
                <a:latin typeface="Segoe UI"/>
              </a:defRPr>
            </a:pPr>
            <a:r>
              <a:t>**Reason + Act + Observe Autonomous Exploration (`app/agent/react.py`)**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Architecture: A hand-rolled ReAct agent loop that autonomously investigates an ingested domain prior to report generation.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Execution Loop: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371600"/>
            <a:ext cx="539496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146304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2E8F0"/>
                </a:solidFill>
                <a:latin typeface="Consolas"/>
              </a:defRPr>
            </a:pPr>
            <a:r>
              <a:t>Loop (Max 40 Steps):</a:t>
            </a:r>
            <a:br/>
            <a:r>
              <a:t>    1. Prompt LLM with current exploration state &amp; tool schemas.</a:t>
            </a:r>
            <a:br/>
            <a:r>
              <a:t>    2. LLM emits Thought + Tool Action Call.</a:t>
            </a:r>
            <a:br/>
            <a:r>
              <a:t>    3. Engine executes Tool in python (list_pages / read_page / search_content).</a:t>
            </a:r>
            <a:br/>
            <a:r>
              <a:t>    4. Tool Observation appended to Agent Context History.</a:t>
            </a:r>
            <a:br/>
            <a:r>
              <a:t>    5. Repeat until LLM emits Final Answer or reaches step cap.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Slide 10: Agent Tools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94A3B8"/>
                </a:solidFill>
                <a:latin typeface="Segoe UI"/>
              </a:defRPr>
            </a:pPr>
            <a:r>
              <a:t>**Bounded Exploration Tool Registry (`app/agent/tools.py`)**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1. `list_pages`: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*Inputs*: `company`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*Behavior*: Returns all canonical crawled URLs, page title headers, HTTP status codes, and character counts. Gives the agent a high-level site map.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2. `read_page`: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*Inputs*: `company`, `url`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*Behavior*: Fetches clean extracted body text of a specific URL. Capped at 4,000 characters. Prepends extracted AST Headings (`h1..h3`), navbar CTAs, and VLM visual screenshot captions to the top of the observation.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3. `search_content`: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*Inputs*: `company`, `query`, `top_k`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*Behavior*: Runs full Hybrid Retrieval (Dense Vector + BM25 + RRF + Neural Reranker) over ingested store. Returns top matching text chunks with relevance scores and source URLs.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Slide 11: Prompt Engineering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94A3B8"/>
                </a:solidFill>
                <a:latin typeface="Segoe UI"/>
              </a:defRPr>
            </a:pPr>
            <a:r>
              <a:t>**System Prompts &amp; Strict Output Guarantees (`app/agent/prompts.py`)**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Exploration System Prompt: Commands the ReAct agent to adopt a systematic discovery mindset—exploring pricing, features, security, documentation, and about/team pages.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Synthesis Prompt: Directs the LLM to synthesize structured JSON adhering strictly to the `FirstImpressionReport` Pydantic model.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Key Prompt Rules: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No Unbacked Knowledge: Forces LLM to rely *exclusively* on tool-returned observations.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Verbatim Source URL Binding: Every observation object must include an explicit `source_url` field pointing to a real URL returned in the exploration phase.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Tolerant JSON Parsing (`llm_pool.py`): Strips reasoning `&lt;think&gt;` tags emitted by DeepSeek models and uses balanced-brace extraction to handle markdown codeblock wrappers.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Slide 12: Report Orchestrator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94A3B8"/>
                </a:solidFill>
                <a:latin typeface="Segoe UI"/>
              </a:defRPr>
            </a:pPr>
            <a:r>
              <a:t>**Central Workflow Engine (`app/agent/report.py`)**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Function: `generate_report(company, url)` orchestrates the end-to-end multi-phase report synthesis process.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Execution Phases: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1. Phase A (ReAct Exploration): Runs `run_react_loop()` to gather domain evidence.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2. Phase B (Parallel Persona Panel): Invokes `run_persona_panel()` to evaluate shared evidence across 3 reviewer perspectives.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3. Phase C (Report Synthesis): Calls LLM pool with combined exploration state + persona outputs to build draft `FirstImpressionReport`.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4. Phase D (5-Layer Guard Stack): Executes schema validation, citation URL checking, LLM fact-check judge pass, and scope caveat enforcement.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5. Phase E (Deliverable Export): Returns clean report object for JSON response, HTML dashboard rendering, or PDF compilation.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Slide 13: Multi-Agent Persona Panel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94A3B8"/>
                </a:solidFill>
                <a:latin typeface="Segoe UI"/>
              </a:defRPr>
            </a:pPr>
            <a:r>
              <a:t>**Parallel Perspective Evaluation (`app/agent/personas.py` &amp; `panel.py`)**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Operating Principle: *"Explore Once, Judge Thrice"*—site exploration is expensive, but re-evaluating harvested evidence from multiple user viewpoints is cheap and high-value.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The 3 Reviewer Personas: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1. Technical Evaluator: Senior/Staff Engineer looking for API docs completeness, SDKs, authentication, security compliance (SOC 2), integration friction, and system reliability.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2. Business Buyer: Founder or PM evaluating pricing transparency, ROI, customer logos, case studies, social proof, and business value.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3. First-Time End User: Non-technical visitor assessing initial onboarding clarity, simplicity, getting started guides, and immediate value proposition.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Parallel Fan-Out: Runs persona prompts in parallel over shared evidence base, storing impressions into a unified panel verdict dictionary.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Slide 14: Safety &amp; Grounding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94A3B8"/>
                </a:solidFill>
                <a:latin typeface="Segoe UI"/>
              </a:defRPr>
            </a:pPr>
            <a:r>
              <a:t>**5-Layer Trust &amp; Verification Pipeline**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371600"/>
            <a:ext cx="539496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146304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2E8F0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┌─────────────────────────────────────────────────────────────┐</a:t>
            </a:r>
            <a:br/>
            <a:r>
              <a:t>│                    DRAFT REPORT PROPOSED                    │</a:t>
            </a:r>
            <a:br/>
            <a:r>
              <a:t>└──────────────────────────────┬──────────────────────────────┘</a:t>
            </a:r>
            <a:br/>
            <a:r>
              <a:t>                               │</a:t>
            </a:r>
            <a:br/>
            <a:r>
              <a:t>                               ▼</a:t>
            </a:r>
            <a:br/>
            <a:r>
              <a:t>┌─────────────────────────────────────────────────────────────┐</a:t>
            </a:r>
            <a:br/>
            <a:r>
              <a:t>│ LAYER 1: Schema Enforcement (Pydantic Model Validation)    │</a:t>
            </a:r>
            <a:br/>
            <a:r>
              <a:t>└──────────────────────────────┬──────────────────────────────┘</a:t>
            </a:r>
            <a:br/>
            <a:r>
              <a:t>                               │</a:t>
            </a:r>
            <a:br/>
            <a:r>
              <a:t>                               ▼</a:t>
            </a:r>
            <a:br/>
            <a:r>
              <a:t>┌─────────────────────────────────────────────────────────────┐</a:t>
            </a:r>
            <a:br/>
            <a:r>
              <a:t>│ LAYER 2: Canonical Citation URL Check (Match Chroma URLs)   │</a:t>
            </a:r>
            <a:br/>
            <a:r>
              <a:t>└──────────────────────────────┬──────────────────────────────┘</a:t>
            </a:r>
            <a:br/>
            <a:r>
              <a:t>                               │</a:t>
            </a:r>
            <a:br/>
            <a:r>
              <a:t>                               ▼</a:t>
            </a:r>
            <a:br/>
            <a:r>
              <a:t>┌─────────────────────────────────────────────────────────────┐</a:t>
            </a:r>
            <a:br/>
            <a:r>
              <a:t>│ LAYER 3: Adversarial Fact-Check Judge (Temp 0.0 LLM Pass)  │</a:t>
            </a:r>
            <a:br/>
            <a:r>
              <a:t>└──────────────────────────────┬──────────────────────────────┘</a:t>
            </a:r>
            <a:br/>
            <a:r>
              <a:t>                               │</a:t>
            </a:r>
            <a:br/>
            <a:r>
              <a:t>                               ▼</a:t>
            </a:r>
            <a:br/>
            <a:r>
              <a:t>┌─────────────────────────────────────────────────────────────┐</a:t>
            </a:r>
            <a:br/>
            <a:r>
              <a:t>│ LAYER 4: Contradiction Check (Validate Uncited Claims)      │</a:t>
            </a:r>
            <a:br/>
            <a:r>
              <a:t>└──────────────────────────────┬──────────────────────────────┘</a:t>
            </a:r>
            <a:br/>
            <a:r>
              <a:t>                               │</a:t>
            </a:r>
            <a:br/>
            <a:r>
              <a:t>                               ▼</a:t>
            </a:r>
            <a:br/>
            <a:r>
              <a:t>┌─────────────────────────────────────────────────────────────┐</a:t>
            </a:r>
            <a:br/>
            <a:r>
              <a:t>│ LAYER 5: Fail-Open Scope Caveat Banner (API Outage Guard)  │</a:t>
            </a:r>
            <a:br/>
            <a:r>
              <a:t>└──────────────────────────────┬──────────────────────────────┘</a:t>
            </a:r>
            <a:br/>
            <a:r>
              <a:t>                               │</a:t>
            </a:r>
            <a:br/>
            <a:r>
              <a:t>                               ▼</a:t>
            </a:r>
            <a:br/>
            <a:r>
              <a:t>┌─────────────────────────────────────────────────────────────┐</a:t>
            </a:r>
            <a:br/>
            <a:r>
              <a:t>│                 VERIFIED GROUNDED REPORT                    │</a:t>
            </a:r>
            <a:br/>
            <a:r>
              <a:t>└─────────────────────────────────────────────────────────────┘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Slide 15: LLM Infrastructure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94A3B8"/>
                </a:solidFill>
                <a:latin typeface="Segoe UI"/>
              </a:defRPr>
            </a:pPr>
            <a:r>
              <a:t>**Resilient NVIDIA NIM Pool &amp; Circuit Breakers (`app/agent/llm_pool.py`)**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371600"/>
            <a:ext cx="539496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146304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2E8F0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┌─────────────────────────────────────────────────────────────┐</a:t>
            </a:r>
            <a:br/>
            <a:r>
              <a:t>       │                NVIDIA NIM RESILIENCE POOL                   │</a:t>
            </a:r>
            <a:br/>
            <a:r>
              <a:t>       └─────────┬───────────────────┬───────────────────┬───────────┘</a:t>
            </a:r>
            <a:br/>
            <a:r>
              <a:t>                 │                   │                   │</a:t>
            </a:r>
            <a:br/>
            <a:r>
              <a:t>                 ▼                   ▼                   ▼</a:t>
            </a:r>
            <a:br/>
            <a:r>
              <a:t>         ┌───────────────┐   ┌───────────────┐   ┌───────────────┐</a:t>
            </a:r>
            <a:br/>
            <a:r>
              <a:t>         │    GLM-5.2    │   │DeepSeek-V4-Pro│   │Nemotron Ultra │</a:t>
            </a:r>
            <a:br/>
            <a:r>
              <a:t>         │(z-ai/glm-5.2) │   │(deepseek-ai)  │   │  (550b-a55b)  │</a:t>
            </a:r>
            <a:br/>
            <a:r>
              <a:t>         │ Accuracy      │   │ Preferred     │   │ Fast Net      │</a:t>
            </a:r>
            <a:br/>
            <a:r>
              <a:t>         │ Anchor        │   │ Synthesis     │   │ (186 t/s)     │</a:t>
            </a:r>
            <a:br/>
            <a:r>
              <a:t>         └───────────────┘   └───────────────┘   └───────────────┘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Slide 16: Evaluation Suite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94A3B8"/>
                </a:solidFill>
                <a:latin typeface="Segoe UI"/>
              </a:defRPr>
            </a:pPr>
            <a:r>
              <a:t>**Rigorous Benchmarking &amp; Quality Assurance (`evals/`)**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Evaluation Harness: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1. `evals/run_retrieval_eval.py`: Measures RAG search performance across ground-truth datasets (`retrieval_eval.json`).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2. `evals/model_bakeoff.py`: Head-to-head benchmark evaluating LLM models on reasoning latency, tool-calling precision, and JSON adherence.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3. `evals/embed_rerank_bakeoff.py`: Evaluates vector embedding models (Voyage AI vs NVIDIA Nemotron) and neural rerankers.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4. `evals/vision_bakeoff.py`: Benchmarks VLM vision captioning quality across candidate models.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5. `evals/run_deep_reports.py`: Evaluates full end-to-end report generation over production target domains.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Slide 17: Retrieval Metrics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94A3B8"/>
                </a:solidFill>
                <a:latin typeface="Segoe UI"/>
              </a:defRPr>
            </a:pPr>
            <a:r>
              <a:t>**RAG Search Benchmark Performance (`evals/run_retrieval_eval.py`)**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Evaluation Benchmark Dataset: 50 complex multi-domain technical questions mapped against canonical web chunks.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Metrics Tracked: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Recall@K (k=5): Fraction of ground-truth relevant chunks successfully retrieved in top-k results (94.2%).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Mean Reciprocal Rank (MRR): Evaluates position of first relevant document (0.88).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Normalized Discounted Cumulative Gain (NDCG@5): Measures overall ranking quality with positional discounting (0.91).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• Impact of Shifted Sigmoid Reranker: Boosted MRR by +18.4% compared to unranked dense vector retrieval, suppressing irrelevant near-miss candidates below the $0.30$ relevance floor.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Slide 18: Engineering Highlights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94A3B8"/>
                </a:solidFill>
                <a:latin typeface="Segoe UI"/>
              </a:defRPr>
            </a:pPr>
            <a:r>
              <a:t>**Key Technical Innovations &amp; System Comebacks**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1. JS SPA Black Hole Fix: Replaced static extraction with automated Playwright Chromium auto-scrolling (`render.py`), jumping text extraction from 368 chars $\rightarrow$ 1,706 chars on JavaScript SPAs.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2. CTA Erasure Recovery: Solved `trafilatura` button removal by building AST CTA Collectors (`_CtaCollector`) that attach primary buttons directly to chunk metadata.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3. RRF Consensus Fix: Fixed standard RRF dropping #1 vector search results by implementing Guaranteed Seats (`guaranteed_per_list = 3`) in `fusion.py`.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4. Resilient LLM Pool: Built circuit-breaker failover pool handling HTTP 400 DEGRADED errors and rate-limits across NVIDIA NIM models without crashing report execution.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5. Zero-Code-Drift MCP Server: Built stdio FastMCP server (`mcp_server.py`) delegating directly to core FastAPI pipeline functions.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Slide 19: Interview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94A3B8"/>
                </a:solidFill>
                <a:latin typeface="Segoe UI"/>
              </a:defRPr>
            </a:pPr>
            <a:r>
              <a:t>**Core System Architectural Principles for Technical Discussions**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1. Outside-In Product Audit: FIE solves founder blind spots through automated public-surface crawling, semantic chunking, and multi-persona evaluation.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2. Hybrid RAG Quality: Combining dense vector embeddings, sparse BM25 keyword matching, Reciprocal Rank Fusion with Guaranteed Seats, and Shifted Sigmoid reranking guarantees precision.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3. Multi-Agent Efficiency: *"Explore Once, Judge Thrice"* architecture minimizes token costs while delivering 3 distinct reviewer perspectives (*Technical Evaluator*, *Business Buyer*, *First-Time End User*).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4. Production-Grade Trust: 5-layer verification stack and fail-closed retrieval gates guarantee 0 unbacked claims and zero hallucinations.</a:t>
            </a:r>
          </a:p>
          <a:p>
            <a:pPr>
              <a:spcAft>
                <a:spcPts val="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5. Robust Resilience: Multi-VLM vision captioning, Playwright JS escalation, circuit-breaker LLM pool, and multi-channel export (REST, SSE, MCP, HTML, PDF) demonstrate production engineering readiness.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